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af371711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af371711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af371711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2148840"/>
            <a:ext cx="8686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CUSTOMER SHOPPING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BEHAVIOR ANALYSIS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End-to-End Retail Analytics Project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2296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0E8"/>
                </a:solidFill>
                <a:latin typeface="Calibri"/>
                <a:ea typeface="Calibri"/>
                <a:cs typeface="Calibri"/>
                <a:sym typeface="Calibri"/>
              </a:rPr>
              <a:t>PYTHON   •   SQL   •   POWER BI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9BD9"/>
                </a:solidFill>
                <a:latin typeface="Calibri"/>
                <a:ea typeface="Calibri"/>
                <a:cs typeface="Calibri"/>
                <a:sym typeface="Calibri"/>
              </a:rPr>
              <a:t>Prepared by Ankit Mishra   |   August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Executive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3,900 retail transactions analyzed end-to-end — from Python data cleaning through SQL analysis to an interactive Power BI dashboard — to guide marketing, pricing, and retention strategy.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96596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548640" y="2093976"/>
            <a:ext cx="35661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3,900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548640" y="2788920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Transactions Analyzed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343400" y="196596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4343400" y="2093976"/>
            <a:ext cx="35661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$59.76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4343400" y="2788920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Avg. Purchase Amount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138160" y="196596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8138160" y="2093976"/>
            <a:ext cx="35661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3.75 / 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8138160" y="2788920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Avg. Review Rating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361188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548640" y="3739896"/>
            <a:ext cx="35661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27%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548640" y="4434840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Customers Subscribed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343400" y="361188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4343400" y="3739896"/>
            <a:ext cx="35661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80%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4343400" y="4434840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Loyal Segment Share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138160" y="361188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8138160" y="3739896"/>
            <a:ext cx="35661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68%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8138160" y="4434840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Revenue from Male Customers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Customer Shopping Behavior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Project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1234440"/>
            <a:ext cx="5486400" cy="4937760"/>
          </a:xfrm>
          <a:prstGeom prst="roundRect">
            <a:avLst>
              <a:gd fmla="val 1481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868680" y="14630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Dataset Summary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868680" y="2011680"/>
            <a:ext cx="49377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3350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B3350"/>
                </a:solidFill>
                <a:latin typeface="Calibri"/>
                <a:ea typeface="Calibri"/>
                <a:cs typeface="Calibri"/>
                <a:sym typeface="Calibri"/>
              </a:rPr>
              <a:t>3,900 rows × 18 columns of transactional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B3350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B3350"/>
                </a:solidFill>
                <a:latin typeface="Calibri"/>
                <a:ea typeface="Calibri"/>
                <a:cs typeface="Calibri"/>
                <a:sym typeface="Calibri"/>
              </a:rPr>
              <a:t>Customer demographics: Age, Gender, Location, Subscription Status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B3350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B3350"/>
                </a:solidFill>
                <a:latin typeface="Calibri"/>
                <a:ea typeface="Calibri"/>
                <a:cs typeface="Calibri"/>
                <a:sym typeface="Calibri"/>
              </a:rPr>
              <a:t>Purchase details: Item, Category, Amount, Season, Size, Color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B3350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B3350"/>
                </a:solidFill>
                <a:latin typeface="Calibri"/>
                <a:ea typeface="Calibri"/>
                <a:cs typeface="Calibri"/>
                <a:sym typeface="Calibri"/>
              </a:rPr>
              <a:t>Behavior signals: Discounts, Promo Codes, Review Rating, Shipping, Frequency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B3350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2B3350"/>
                </a:solidFill>
                <a:latin typeface="Calibri"/>
                <a:ea typeface="Calibri"/>
                <a:cs typeface="Calibri"/>
                <a:sym typeface="Calibri"/>
              </a:rPr>
              <a:t>37 missing Review Rating values imputed by category median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6355080" y="14630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Toolchain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355080" y="20574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635508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7040880" y="20299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7040880" y="235000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Data loading, cleaning, and feature engineering with pandas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355080" y="31089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6355080" y="3108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7040880" y="30815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7040880" y="340156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structured queries answering core business questions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355080" y="41605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6355080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7040880" y="413308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040880" y="445312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Interactive dashboard for stakeholder self-service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Customer Shopping Behavior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Revenue Insights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Revenue by Gender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53035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 txBox="1"/>
          <p:nvPr/>
        </p:nvSpPr>
        <p:spPr>
          <a:xfrm>
            <a:off x="548640" y="443484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Male customers drive 68% of total revenue ($157,890 vs. $75,191).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Revenue by Age Group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508760"/>
            <a:ext cx="53035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 txBox="1"/>
          <p:nvPr/>
        </p:nvSpPr>
        <p:spPr>
          <a:xfrm>
            <a:off x="6309360" y="443484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Revenue is fairly even across age groups — Young Adults lead by ~11% over Seniors.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Customer Shopping Behavior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Customer Behavior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Subscribers vs. Non-Subscribers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53035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/>
        </p:nvSpPr>
        <p:spPr>
          <a:xfrm>
            <a:off x="548640" y="443484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Only 27% of customers subscribe, yet subscribers spend almost the same as non-subscribers ($59.49 vs $59.87) — growth lies in acquisition, not spend.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Customer Segmentation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1417320"/>
            <a:ext cx="45720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/>
          <p:nvPr/>
        </p:nvSpPr>
        <p:spPr>
          <a:xfrm>
            <a:off x="6309360" y="443484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Loyal customers make up 80% of the base; the New-customer pool (2%) is the tightest growth constraint.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Customer Shopping Behavior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8" title="Screenshot 2026-08-28 2102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9400" y="0"/>
            <a:ext cx="1277574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Product Insights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Top 5 Products by Rating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5303400" cy="28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 txBox="1"/>
          <p:nvPr/>
        </p:nvSpPr>
        <p:spPr>
          <a:xfrm>
            <a:off x="548640" y="443484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Ratings cluster tightly at the top — no single standout, broad quality across the catalog.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Highest Discount-Dependency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508760"/>
            <a:ext cx="53035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 txBox="1"/>
          <p:nvPr/>
        </p:nvSpPr>
        <p:spPr>
          <a:xfrm>
            <a:off x="6309360" y="443484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Nearly half of all purchases in these 5 lines involve a discount — the clearest margin-risk area.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Customer Shopping Behavior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Interactive Dashboard in Power BI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cleaned dataset and SQL findings were brought together into a self-service Power BI dashboard, letting stakeholders explore revenue and sales patterns without writing a single query.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548640" y="2286000"/>
            <a:ext cx="5212080" cy="1554480"/>
          </a:xfrm>
          <a:prstGeom prst="roundRect">
            <a:avLst>
              <a:gd fmla="val 4706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 txBox="1"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1417320" y="2468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Cross-Filtering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1417320" y="2834640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D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D0F0"/>
                </a:solidFill>
                <a:latin typeface="Calibri"/>
                <a:ea typeface="Calibri"/>
                <a:cs typeface="Calibri"/>
                <a:sym typeface="Calibri"/>
              </a:rPr>
              <a:t>Slicers for Subscription Status, Gender, Category, and Shipping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6080760" y="2286000"/>
            <a:ext cx="5212080" cy="1554480"/>
          </a:xfrm>
          <a:prstGeom prst="roundRect">
            <a:avLst>
              <a:gd fmla="val 4706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6309360" y="2514600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 txBox="1"/>
          <p:nvPr/>
        </p:nvSpPr>
        <p:spPr>
          <a:xfrm>
            <a:off x="6309360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 txBox="1"/>
          <p:nvPr/>
        </p:nvSpPr>
        <p:spPr>
          <a:xfrm>
            <a:off x="6949440" y="2468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Headline KPIs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6949440" y="2834640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D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D0F0"/>
                </a:solidFill>
                <a:latin typeface="Calibri"/>
                <a:ea typeface="Calibri"/>
                <a:cs typeface="Calibri"/>
                <a:sym typeface="Calibri"/>
              </a:rPr>
              <a:t>3.9K customers, $59.76 avg. purchase, 3.75 avg. review rating at a glance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548640" y="4160520"/>
            <a:ext cx="5212080" cy="1554480"/>
          </a:xfrm>
          <a:prstGeom prst="roundRect">
            <a:avLst>
              <a:gd fmla="val 4706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 txBox="1"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1417320" y="4343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 Breakdowns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1417320" y="4709160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D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D0F0"/>
                </a:solidFill>
                <a:latin typeface="Calibri"/>
                <a:ea typeface="Calibri"/>
                <a:cs typeface="Calibri"/>
                <a:sym typeface="Calibri"/>
              </a:rPr>
              <a:t>Revenue and sales by product category and age group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080760" y="4160520"/>
            <a:ext cx="5212080" cy="1554480"/>
          </a:xfrm>
          <a:prstGeom prst="roundRect">
            <a:avLst>
              <a:gd fmla="val 4706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6309360" y="4389120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630936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6949440" y="4343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Subscription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6949440" y="4709160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D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D0F0"/>
                </a:solidFill>
                <a:latin typeface="Calibri"/>
                <a:ea typeface="Calibri"/>
                <a:cs typeface="Calibri"/>
                <a:sym typeface="Calibri"/>
              </a:rPr>
              <a:t>Donut chart confirming the 27% / 73% subscriber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9BD9"/>
                </a:solidFill>
                <a:latin typeface="Calibri"/>
                <a:ea typeface="Calibri"/>
                <a:cs typeface="Calibri"/>
                <a:sym typeface="Calibri"/>
              </a:rPr>
              <a:t>Customer Shopping Behavior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B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9BD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Business Recommendations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548640" y="114300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 txBox="1"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1234440" y="10972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Boost Subscriptions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1234440" y="14173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Grow the subscriber base — not just spend — by converting high-frequency repeat buyers with tangible perks.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548640" y="1938528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 txBox="1"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1234440" y="189280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Strengthen Loyalty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1234440" y="2212848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Move Returning customers into the Loyal tier and widen the thin New-customer acquisition pipeline.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548640" y="2734056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548640" y="27340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1234440" y="2688336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Review Discount Policy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1234440" y="3008376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Shift Hat, Sneakers, Coat, Sweater, and Pants from blanket discounts to targeted, margin-conscious offers.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548640" y="3529584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1234440" y="3483864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Spotlight Top Products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1234440" y="3803904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Feature consistently top-rated and top-selling items in campaigns and merchandising.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48640" y="43251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548640" y="4325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1234440" y="427939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Target Marketing Spend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1234440" y="4599432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Prioritize the Young Adult segment and Express-shipping customers for incremental spend.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1"/>
          <p:cNvCxnSpPr/>
          <p:nvPr/>
        </p:nvCxnSpPr>
        <p:spPr>
          <a:xfrm>
            <a:off x="548640" y="51937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1"/>
          <p:cNvSpPr txBox="1"/>
          <p:nvPr/>
        </p:nvSpPr>
        <p:spPr>
          <a:xfrm>
            <a:off x="548640" y="537667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Two consistent themes emerge: subscription and loyalty are under-leveraged as revenue drivers, and a small set of product lines carry disproportionate discount dependency. Addressing both offers a clear, data-backed path to improving revenue and margin.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Customer Shopping Behavior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